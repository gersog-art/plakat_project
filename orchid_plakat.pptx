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</p:sldIdLst>
  <p:sldSz cx="12192000" cy="16256000"/>
  <p:notesSz cx="6858000" cy="9144000"/>
  <p:defaultTextStyle>
    <a:defPPr>
      <a:defRPr lang="ru-RU"/>
    </a:defPPr>
    <a:lvl1pPr marL="0" algn="l" defTabSz="395021" rtl="0" eaLnBrk="1" latinLnBrk="0" hangingPunct="1">
      <a:defRPr sz="778" kern="1200">
        <a:solidFill>
          <a:schemeClr val="tx1"/>
        </a:solidFill>
        <a:latin typeface="+mn-lt"/>
        <a:ea typeface="+mn-ea"/>
        <a:cs typeface="+mn-cs"/>
      </a:defRPr>
    </a:lvl1pPr>
    <a:lvl2pPr marL="197510" algn="l" defTabSz="395021" rtl="0" eaLnBrk="1" latinLnBrk="0" hangingPunct="1">
      <a:defRPr sz="778" kern="1200">
        <a:solidFill>
          <a:schemeClr val="tx1"/>
        </a:solidFill>
        <a:latin typeface="+mn-lt"/>
        <a:ea typeface="+mn-ea"/>
        <a:cs typeface="+mn-cs"/>
      </a:defRPr>
    </a:lvl2pPr>
    <a:lvl3pPr marL="395021" algn="l" defTabSz="395021" rtl="0" eaLnBrk="1" latinLnBrk="0" hangingPunct="1">
      <a:defRPr sz="778" kern="1200">
        <a:solidFill>
          <a:schemeClr val="tx1"/>
        </a:solidFill>
        <a:latin typeface="+mn-lt"/>
        <a:ea typeface="+mn-ea"/>
        <a:cs typeface="+mn-cs"/>
      </a:defRPr>
    </a:lvl3pPr>
    <a:lvl4pPr marL="592531" algn="l" defTabSz="395021" rtl="0" eaLnBrk="1" latinLnBrk="0" hangingPunct="1">
      <a:defRPr sz="778" kern="1200">
        <a:solidFill>
          <a:schemeClr val="tx1"/>
        </a:solidFill>
        <a:latin typeface="+mn-lt"/>
        <a:ea typeface="+mn-ea"/>
        <a:cs typeface="+mn-cs"/>
      </a:defRPr>
    </a:lvl4pPr>
    <a:lvl5pPr marL="790042" algn="l" defTabSz="395021" rtl="0" eaLnBrk="1" latinLnBrk="0" hangingPunct="1">
      <a:defRPr sz="778" kern="1200">
        <a:solidFill>
          <a:schemeClr val="tx1"/>
        </a:solidFill>
        <a:latin typeface="+mn-lt"/>
        <a:ea typeface="+mn-ea"/>
        <a:cs typeface="+mn-cs"/>
      </a:defRPr>
    </a:lvl5pPr>
    <a:lvl6pPr marL="987552" algn="l" defTabSz="395021" rtl="0" eaLnBrk="1" latinLnBrk="0" hangingPunct="1">
      <a:defRPr sz="778" kern="1200">
        <a:solidFill>
          <a:schemeClr val="tx1"/>
        </a:solidFill>
        <a:latin typeface="+mn-lt"/>
        <a:ea typeface="+mn-ea"/>
        <a:cs typeface="+mn-cs"/>
      </a:defRPr>
    </a:lvl6pPr>
    <a:lvl7pPr marL="1185062" algn="l" defTabSz="395021" rtl="0" eaLnBrk="1" latinLnBrk="0" hangingPunct="1">
      <a:defRPr sz="778" kern="1200">
        <a:solidFill>
          <a:schemeClr val="tx1"/>
        </a:solidFill>
        <a:latin typeface="+mn-lt"/>
        <a:ea typeface="+mn-ea"/>
        <a:cs typeface="+mn-cs"/>
      </a:defRPr>
    </a:lvl7pPr>
    <a:lvl8pPr marL="1382573" algn="l" defTabSz="395021" rtl="0" eaLnBrk="1" latinLnBrk="0" hangingPunct="1">
      <a:defRPr sz="778" kern="1200">
        <a:solidFill>
          <a:schemeClr val="tx1"/>
        </a:solidFill>
        <a:latin typeface="+mn-lt"/>
        <a:ea typeface="+mn-ea"/>
        <a:cs typeface="+mn-cs"/>
      </a:defRPr>
    </a:lvl8pPr>
    <a:lvl9pPr marL="1580083" algn="l" defTabSz="395021" rtl="0" eaLnBrk="1" latinLnBrk="0" hangingPunct="1">
      <a:defRPr sz="7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285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660416"/>
            <a:ext cx="9144000" cy="565949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8538164"/>
            <a:ext cx="9144000" cy="392476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FFA4-C8CA-4CD5-B134-99FB16B145AC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AE0C-68D3-46F8-ACFF-84A219F29C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2099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FFA4-C8CA-4CD5-B134-99FB16B145AC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AE0C-68D3-46F8-ACFF-84A219F29C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598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4052714"/>
            <a:ext cx="10515600" cy="676204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10878728"/>
            <a:ext cx="10515600" cy="3555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FFA4-C8CA-4CD5-B134-99FB16B145AC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AE0C-68D3-46F8-ACFF-84A219F29C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588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4327407"/>
            <a:ext cx="5181600" cy="1031428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4327407"/>
            <a:ext cx="5181600" cy="1031428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FFA4-C8CA-4CD5-B134-99FB16B145AC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AE0C-68D3-46F8-ACFF-84A219F29C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3932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865483"/>
            <a:ext cx="10515600" cy="314207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9" y="3984979"/>
            <a:ext cx="5157787" cy="19529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9" y="5937956"/>
            <a:ext cx="5157787" cy="87338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3984979"/>
            <a:ext cx="5183188" cy="19529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5937956"/>
            <a:ext cx="5183188" cy="87338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FFA4-C8CA-4CD5-B134-99FB16B145AC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AE0C-68D3-46F8-ACFF-84A219F29C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0906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FFA4-C8CA-4CD5-B134-99FB16B145AC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AE0C-68D3-46F8-ACFF-84A219F29C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653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FFA4-C8CA-4CD5-B134-99FB16B145AC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AE0C-68D3-46F8-ACFF-84A219F29C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564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9" y="1083733"/>
            <a:ext cx="3932237" cy="37930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2340564"/>
            <a:ext cx="6172200" cy="115522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9" y="4876800"/>
            <a:ext cx="3932237" cy="90348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FFA4-C8CA-4CD5-B134-99FB16B145AC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AE0C-68D3-46F8-ACFF-84A219F29C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854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9" y="1083733"/>
            <a:ext cx="3932237" cy="37930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2340564"/>
            <a:ext cx="6172200" cy="115522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9" y="4876800"/>
            <a:ext cx="3932237" cy="90348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FFA4-C8CA-4CD5-B134-99FB16B145AC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AE0C-68D3-46F8-ACFF-84A219F29C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775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FFA4-C8CA-4CD5-B134-99FB16B145AC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AE0C-68D3-46F8-ACFF-84A219F29C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580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865481"/>
            <a:ext cx="2628900" cy="13776209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865481"/>
            <a:ext cx="7734300" cy="1377620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FFA4-C8CA-4CD5-B134-99FB16B145AC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6AE0C-68D3-46F8-ACFF-84A219F29C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990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865483"/>
            <a:ext cx="10515600" cy="314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4327407"/>
            <a:ext cx="10515600" cy="10314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15066905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9FFA4-C8CA-4CD5-B134-99FB16B145AC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15066905"/>
            <a:ext cx="41148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15066905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6AE0C-68D3-46F8-ACFF-84A219F29C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081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824"/>
            <a:ext cx="12204967" cy="16206176"/>
          </a:xfrm>
          <a:prstGeom prst="rect">
            <a:avLst/>
          </a:prstGeom>
        </p:spPr>
      </p:pic>
      <p:sp>
        <p:nvSpPr>
          <p:cNvPr id="3" name="Скругленный прямоугольник 2"/>
          <p:cNvSpPr/>
          <p:nvPr/>
        </p:nvSpPr>
        <p:spPr>
          <a:xfrm>
            <a:off x="287290" y="1984112"/>
            <a:ext cx="5113828" cy="257556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/>
              <a:t> </a:t>
            </a:r>
            <a:r>
              <a:rPr lang="ru-RU" sz="2000" b="1" dirty="0"/>
              <a:t>ПРОБЛЕМА</a:t>
            </a:r>
            <a:endParaRPr lang="ru-RU" sz="2000" dirty="0"/>
          </a:p>
          <a:p>
            <a:r>
              <a:rPr lang="ru-RU" sz="1800" b="1" dirty="0"/>
              <a:t>Устарели:</a:t>
            </a:r>
            <a:r>
              <a:rPr lang="ru-RU" sz="1800" dirty="0"/>
              <a:t> Сигнатурные методы (WAF, IDS) не ловят zero-day и сложные атаки.</a:t>
            </a:r>
          </a:p>
          <a:p>
            <a:r>
              <a:rPr lang="ru-RU" sz="1800" b="1" dirty="0"/>
              <a:t>Неэффективны:</a:t>
            </a:r>
            <a:r>
              <a:rPr lang="ru-RU" sz="1800" dirty="0"/>
              <a:t> ML-решения с одной моделью → низкая точность, сложное внедрение.</a:t>
            </a:r>
          </a:p>
          <a:p>
            <a:r>
              <a:rPr lang="ru-RU" sz="1800" b="1" dirty="0"/>
              <a:t>Нет аналогов:</a:t>
            </a:r>
            <a:r>
              <a:rPr lang="ru-RU" sz="1800" dirty="0"/>
              <a:t> Простых открытых систем с веб-мониторингом для обучения.</a:t>
            </a:r>
          </a:p>
          <a:p>
            <a:pPr algn="ctr"/>
            <a:endParaRPr lang="ru-RU" sz="1000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2610052" y="4832759"/>
            <a:ext cx="3194275" cy="380901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 smtClean="0"/>
              <a:t>РЕШЕНИЕ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/>
              <a:t>Разработан гибридный ML-каскад: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 smtClean="0"/>
              <a:t>Isolation </a:t>
            </a:r>
            <a:r>
              <a:rPr lang="ru-RU" sz="1600" b="1" dirty="0" err="1" smtClean="0"/>
              <a:t>Forest</a:t>
            </a:r>
            <a:r>
              <a:rPr lang="ru-RU" sz="1600" b="1" dirty="0" smtClean="0"/>
              <a:t> (unsupervised):</a:t>
            </a:r>
            <a:r>
              <a:rPr lang="ru-RU" sz="1600" dirty="0" smtClean="0"/>
              <a:t> Первый уровень. </a:t>
            </a:r>
            <a:r>
              <a:rPr lang="ru-RU" sz="1600" dirty="0"/>
              <a:t>Б</a:t>
            </a:r>
            <a:r>
              <a:rPr lang="ru-RU" sz="1600" dirty="0" smtClean="0"/>
              <a:t>ыстрый </a:t>
            </a:r>
            <a:r>
              <a:rPr lang="ru-RU" sz="1600" dirty="0"/>
              <a:t>детектор </a:t>
            </a:r>
            <a:r>
              <a:rPr lang="ru-RU" sz="1600" dirty="0" smtClean="0"/>
              <a:t>аномалий. Высокая скорость, низкие требования.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 smtClean="0"/>
              <a:t>Random </a:t>
            </a:r>
            <a:r>
              <a:rPr lang="ru-RU" sz="1600" b="1" dirty="0"/>
              <a:t>Forest (supervised):</a:t>
            </a:r>
            <a:r>
              <a:rPr lang="ru-RU" sz="1600" dirty="0"/>
              <a:t> Второй </a:t>
            </a:r>
            <a:r>
              <a:rPr lang="ru-RU" sz="1600" dirty="0" smtClean="0"/>
              <a:t>уровень. </a:t>
            </a:r>
            <a:r>
              <a:rPr lang="ru-RU" sz="800" dirty="0" smtClean="0"/>
              <a:t> </a:t>
            </a:r>
            <a:r>
              <a:rPr lang="ru-RU" sz="1600" dirty="0"/>
              <a:t>К</a:t>
            </a:r>
            <a:r>
              <a:rPr lang="ru-RU" sz="1600" dirty="0" smtClean="0"/>
              <a:t>лассификатор </a:t>
            </a:r>
            <a:r>
              <a:rPr lang="ru-RU" sz="1600" dirty="0"/>
              <a:t>типа атаки</a:t>
            </a:r>
            <a:r>
              <a:rPr lang="ru-RU" sz="1600" dirty="0" smtClean="0"/>
              <a:t>. </a:t>
            </a:r>
            <a:r>
              <a:rPr lang="ru-RU" sz="1600" dirty="0"/>
              <a:t>Высокая точность на известных угрозах</a:t>
            </a:r>
            <a:r>
              <a:rPr lang="ru-RU" sz="1600" dirty="0" smtClean="0"/>
              <a:t>.</a:t>
            </a:r>
            <a:endParaRPr lang="ru-RU" sz="1600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17295" y="9068570"/>
            <a:ext cx="3298610" cy="98017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АРХИТЕКТУРА</a:t>
            </a:r>
            <a:r>
              <a:rPr lang="ru-RU" sz="1400" dirty="0" smtClean="0"/>
              <a:t/>
            </a:r>
            <a:br>
              <a:rPr lang="ru-RU" sz="1400" dirty="0" smtClean="0"/>
            </a:br>
            <a:r>
              <a:rPr lang="ru-RU" sz="1600" dirty="0"/>
              <a:t>Микросервисная система в Docker-контейнерах (6 сервисов):</a:t>
            </a:r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1518982" y="10214112"/>
            <a:ext cx="1695031" cy="47373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Honeypot: Juice Shop</a:t>
            </a:r>
            <a:endParaRPr lang="ru-RU" sz="1600" dirty="0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1518982" y="11106757"/>
            <a:ext cx="1695450" cy="42862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Монитор</a:t>
            </a:r>
            <a:endParaRPr lang="ru-RU" sz="1600" dirty="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1518563" y="12042878"/>
            <a:ext cx="1695450" cy="42862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ML -</a:t>
            </a:r>
            <a:r>
              <a:rPr lang="ru-RU" sz="1600" dirty="0" smtClean="0"/>
              <a:t> каскад</a:t>
            </a:r>
            <a:endParaRPr lang="ru-RU" sz="1600" dirty="0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1518563" y="12936351"/>
            <a:ext cx="1695450" cy="42862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БД +</a:t>
            </a:r>
            <a:r>
              <a:rPr lang="en-US" sz="1600" dirty="0" smtClean="0"/>
              <a:t> Backend</a:t>
            </a:r>
            <a:endParaRPr lang="ru-RU" sz="1600" dirty="0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1518563" y="13840122"/>
            <a:ext cx="1695450" cy="42862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Web Interface</a:t>
            </a:r>
            <a:endParaRPr lang="ru-RU" sz="1600" dirty="0"/>
          </a:p>
        </p:txBody>
      </p:sp>
      <p:cxnSp>
        <p:nvCxnSpPr>
          <p:cNvPr id="27" name="Прямая со стрелкой 26"/>
          <p:cNvCxnSpPr/>
          <p:nvPr/>
        </p:nvCxnSpPr>
        <p:spPr>
          <a:xfrm>
            <a:off x="2370912" y="10707578"/>
            <a:ext cx="0" cy="3991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Скругленный прямоугольник 41"/>
          <p:cNvSpPr/>
          <p:nvPr/>
        </p:nvSpPr>
        <p:spPr>
          <a:xfrm>
            <a:off x="51872" y="4915831"/>
            <a:ext cx="2429884" cy="282217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/>
              <a:t>Ключевые компоненты:</a:t>
            </a: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Juice Shop (</a:t>
            </a:r>
            <a:r>
              <a:rPr lang="ru-RU" sz="1600" b="1" dirty="0"/>
              <a:t>порт 3001):</a:t>
            </a:r>
            <a:r>
              <a:rPr lang="ru-RU" sz="1600" dirty="0"/>
              <a:t> Целевое уязвимое приложение.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Web </a:t>
            </a:r>
            <a:r>
              <a:rPr lang="en-US" sz="1600" b="1" dirty="0"/>
              <a:t>Admin Panel (</a:t>
            </a:r>
            <a:r>
              <a:rPr lang="ru-RU" sz="1600" b="1" dirty="0"/>
              <a:t>порт 3000):</a:t>
            </a:r>
            <a:r>
              <a:rPr lang="ru-RU" sz="1600" dirty="0"/>
              <a:t> Интерфейс реального времени. </a:t>
            </a:r>
            <a:endParaRPr lang="en-US" sz="1600" dirty="0"/>
          </a:p>
        </p:txBody>
      </p:sp>
      <p:sp>
        <p:nvSpPr>
          <p:cNvPr id="43" name="Скругленный прямоугольник 42"/>
          <p:cNvSpPr/>
          <p:nvPr/>
        </p:nvSpPr>
        <p:spPr>
          <a:xfrm>
            <a:off x="8832918" y="6881822"/>
            <a:ext cx="3095624" cy="295050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ru-RU" sz="1600" b="1" dirty="0" smtClean="0"/>
              <a:t>Точность </a:t>
            </a:r>
            <a:r>
              <a:rPr lang="ru-RU" sz="1600" b="1" dirty="0"/>
              <a:t>(Accuracy):</a:t>
            </a:r>
            <a:r>
              <a:rPr lang="ru-RU" sz="1600" dirty="0"/>
              <a:t> </a:t>
            </a:r>
            <a:r>
              <a:rPr lang="ru-RU" sz="1600" b="1" dirty="0"/>
              <a:t>98.4%</a:t>
            </a:r>
            <a:r>
              <a:rPr lang="ru-RU" sz="1600" dirty="0"/>
              <a:t> (цель &gt;95%).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b="1" dirty="0"/>
              <a:t>Время обработки:</a:t>
            </a:r>
            <a:r>
              <a:rPr lang="ru-RU" sz="1600" dirty="0"/>
              <a:t> </a:t>
            </a:r>
            <a:r>
              <a:rPr lang="ru-RU" sz="1600" b="1" dirty="0"/>
              <a:t>&lt; 20 мс</a:t>
            </a:r>
            <a:r>
              <a:rPr lang="ru-RU" sz="1600" dirty="0"/>
              <a:t> на запрос (цель &lt;50 мс).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b="1" dirty="0"/>
              <a:t>Пропускная способность:</a:t>
            </a:r>
            <a:r>
              <a:rPr lang="ru-RU" sz="1600" dirty="0"/>
              <a:t> Стабильная работа до </a:t>
            </a:r>
            <a:r>
              <a:rPr lang="ru-RU" sz="1600" b="1" dirty="0"/>
              <a:t>500 запросов/секунду</a:t>
            </a:r>
            <a:r>
              <a:rPr lang="ru-RU" sz="1600" dirty="0" smtClean="0"/>
              <a:t>.</a:t>
            </a:r>
          </a:p>
        </p:txBody>
      </p:sp>
      <p:sp>
        <p:nvSpPr>
          <p:cNvPr id="44" name="Скругленный прямоугольник 43"/>
          <p:cNvSpPr/>
          <p:nvPr/>
        </p:nvSpPr>
        <p:spPr>
          <a:xfrm>
            <a:off x="5924551" y="6736761"/>
            <a:ext cx="2766422" cy="352295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/>
              <a:t>ТЕХНОЛОГИЧЕСКИЙ СТЕК</a:t>
            </a:r>
            <a:endParaRPr lang="ru-RU" sz="1600" dirty="0"/>
          </a:p>
          <a:p>
            <a:r>
              <a:rPr lang="en-US" sz="1600" b="1" dirty="0"/>
              <a:t>Backend/ML:</a:t>
            </a:r>
            <a:r>
              <a:rPr lang="en-US" sz="1600" dirty="0"/>
              <a:t> Python, FastAPI, Scikit-learn, SQLite.</a:t>
            </a:r>
          </a:p>
          <a:p>
            <a:r>
              <a:rPr lang="en-US" sz="1600" b="1" dirty="0"/>
              <a:t>Frontend:</a:t>
            </a:r>
            <a:r>
              <a:rPr lang="en-US" sz="1600" dirty="0"/>
              <a:t> HTML, CSS, Vanilla JavaScript (SSE).</a:t>
            </a:r>
          </a:p>
          <a:p>
            <a:r>
              <a:rPr lang="ru-RU" sz="1600" b="1" dirty="0"/>
              <a:t>Инфраструктура:</a:t>
            </a:r>
            <a:r>
              <a:rPr lang="ru-RU" sz="1600" dirty="0"/>
              <a:t> </a:t>
            </a:r>
            <a:r>
              <a:rPr lang="en-US" sz="1600" dirty="0"/>
              <a:t>Docker, Docker Compose.</a:t>
            </a:r>
          </a:p>
          <a:p>
            <a:r>
              <a:rPr lang="ru-RU" sz="1600" b="1" dirty="0"/>
              <a:t>Развертывание:</a:t>
            </a:r>
            <a:r>
              <a:rPr lang="ru-RU" sz="1600" dirty="0"/>
              <a:t> </a:t>
            </a:r>
            <a:r>
              <a:rPr lang="ru-RU" sz="1600" dirty="0" smtClean="0"/>
              <a:t>Один скрипт — </a:t>
            </a:r>
            <a:r>
              <a:rPr lang="en-US" sz="1600" dirty="0" smtClean="0"/>
              <a:t>run_orchid.sh</a:t>
            </a:r>
            <a:endParaRPr kumimoji="0" lang="ru-RU" altLang="ru-RU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400" dirty="0"/>
          </a:p>
        </p:txBody>
      </p:sp>
      <p:sp>
        <p:nvSpPr>
          <p:cNvPr id="48" name="Скругленный прямоугольник 47"/>
          <p:cNvSpPr/>
          <p:nvPr/>
        </p:nvSpPr>
        <p:spPr>
          <a:xfrm>
            <a:off x="3723167" y="10745250"/>
            <a:ext cx="3079700" cy="244362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 smtClean="0"/>
              <a:t>ЗНАЧИМОСТЬ</a:t>
            </a:r>
            <a:endParaRPr lang="ru-RU" sz="1600" dirty="0"/>
          </a:p>
          <a:p>
            <a:r>
              <a:rPr lang="ru-RU" sz="1600" b="1" dirty="0" smtClean="0"/>
              <a:t>Практическая </a:t>
            </a:r>
            <a:r>
              <a:rPr lang="ru-RU" sz="1600" b="1" dirty="0"/>
              <a:t>ценность:</a:t>
            </a: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/>
              <a:t>Прототип SIEM</a:t>
            </a:r>
            <a:r>
              <a:rPr lang="ru-RU" sz="1600" dirty="0"/>
              <a:t> для малого бизнеса.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/>
              <a:t>Учебный стенд</a:t>
            </a:r>
            <a:r>
              <a:rPr lang="ru-RU" sz="1600" dirty="0"/>
              <a:t> </a:t>
            </a:r>
            <a:r>
              <a:rPr lang="ru-RU" sz="1600" dirty="0" smtClean="0"/>
              <a:t>в </a:t>
            </a:r>
            <a:r>
              <a:rPr lang="ru-RU" sz="1600" dirty="0"/>
              <a:t>кибербезопасности.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/>
              <a:t>Импортозамещающее решение</a:t>
            </a:r>
            <a:r>
              <a:rPr lang="ru-RU" sz="1600" dirty="0"/>
              <a:t> на открытых технологиях</a:t>
            </a:r>
            <a:r>
              <a:rPr lang="ru-RU" dirty="0"/>
              <a:t>.</a:t>
            </a:r>
          </a:p>
        </p:txBody>
      </p:sp>
      <p:pic>
        <p:nvPicPr>
          <p:cNvPr id="49" name="Рисунок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567" y="133347"/>
            <a:ext cx="5323115" cy="2328863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769" y="12534510"/>
            <a:ext cx="3192174" cy="3192174"/>
          </a:xfrm>
          <a:prstGeom prst="rect">
            <a:avLst/>
          </a:prstGeom>
        </p:spPr>
      </p:pic>
      <p:sp>
        <p:nvSpPr>
          <p:cNvPr id="32" name="Скругленный прямоугольник 31"/>
          <p:cNvSpPr/>
          <p:nvPr/>
        </p:nvSpPr>
        <p:spPr>
          <a:xfrm>
            <a:off x="1363436" y="962023"/>
            <a:ext cx="4561115" cy="75236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Orchid system</a:t>
            </a:r>
            <a:endParaRPr lang="ru-RU" sz="24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49" y="12889831"/>
            <a:ext cx="598093" cy="598093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0935" y="9554844"/>
            <a:ext cx="408779" cy="408779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536" y="590914"/>
            <a:ext cx="987426" cy="1123471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95" y="10938230"/>
            <a:ext cx="925515" cy="686759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894" y="6806039"/>
            <a:ext cx="419102" cy="419102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838" y="9631001"/>
            <a:ext cx="348608" cy="348608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901" y="6897707"/>
            <a:ext cx="334963" cy="334963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455" y="6897822"/>
            <a:ext cx="334848" cy="334848"/>
          </a:xfrm>
          <a:prstGeom prst="rect">
            <a:avLst/>
          </a:prstGeom>
        </p:spPr>
      </p:pic>
      <p:pic>
        <p:nvPicPr>
          <p:cNvPr id="41" name="Рисунок 40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27" y="10250446"/>
            <a:ext cx="571420" cy="571420"/>
          </a:xfrm>
          <a:prstGeom prst="rect">
            <a:avLst/>
          </a:prstGeom>
        </p:spPr>
      </p:pic>
      <p:pic>
        <p:nvPicPr>
          <p:cNvPr id="46" name="Рисунок 4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97165" y="11925611"/>
            <a:ext cx="792002" cy="792002"/>
          </a:xfrm>
          <a:prstGeom prst="rect">
            <a:avLst/>
          </a:prstGeom>
        </p:spPr>
      </p:pic>
      <p:pic>
        <p:nvPicPr>
          <p:cNvPr id="47" name="Рисунок 46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558" y="9558655"/>
            <a:ext cx="401158" cy="401158"/>
          </a:xfrm>
          <a:prstGeom prst="rect">
            <a:avLst/>
          </a:prstGeom>
        </p:spPr>
      </p:pic>
      <p:pic>
        <p:nvPicPr>
          <p:cNvPr id="61" name="Рисунок 6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2047" y="10179542"/>
            <a:ext cx="3038120" cy="1570974"/>
          </a:xfrm>
          <a:prstGeom prst="rect">
            <a:avLst/>
          </a:prstGeom>
        </p:spPr>
      </p:pic>
      <p:sp>
        <p:nvSpPr>
          <p:cNvPr id="62" name="Скругленный прямоугольник 61"/>
          <p:cNvSpPr/>
          <p:nvPr/>
        </p:nvSpPr>
        <p:spPr>
          <a:xfrm>
            <a:off x="6720567" y="5999774"/>
            <a:ext cx="2994214" cy="4167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/>
              <a:t>РЕЗУЛЬТАТЫ </a:t>
            </a:r>
            <a:r>
              <a:rPr lang="ru-RU" sz="1400" b="1" dirty="0" smtClean="0"/>
              <a:t>ЭКСПЕРИМЕНТОВ</a:t>
            </a:r>
            <a:endParaRPr lang="ru-RU" sz="1400" dirty="0"/>
          </a:p>
        </p:txBody>
      </p:sp>
      <p:sp>
        <p:nvSpPr>
          <p:cNvPr id="63" name="Скругленный прямоугольник 62"/>
          <p:cNvSpPr/>
          <p:nvPr/>
        </p:nvSpPr>
        <p:spPr>
          <a:xfrm>
            <a:off x="6766685" y="2443284"/>
            <a:ext cx="1701501" cy="44543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Принцип работы</a:t>
            </a:r>
          </a:p>
        </p:txBody>
      </p:sp>
      <p:sp>
        <p:nvSpPr>
          <p:cNvPr id="64" name="Скругленный прямоугольник 63"/>
          <p:cNvSpPr/>
          <p:nvPr/>
        </p:nvSpPr>
        <p:spPr>
          <a:xfrm>
            <a:off x="6754461" y="3393308"/>
            <a:ext cx="1701501" cy="44543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Запрос</a:t>
            </a:r>
          </a:p>
        </p:txBody>
      </p:sp>
      <p:sp>
        <p:nvSpPr>
          <p:cNvPr id="65" name="Скругленный прямоугольник 64"/>
          <p:cNvSpPr/>
          <p:nvPr/>
        </p:nvSpPr>
        <p:spPr>
          <a:xfrm>
            <a:off x="6780672" y="4233259"/>
            <a:ext cx="1701501" cy="44543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Монитор</a:t>
            </a:r>
          </a:p>
        </p:txBody>
      </p:sp>
      <p:sp>
        <p:nvSpPr>
          <p:cNvPr id="66" name="Скругленный прямоугольник 65"/>
          <p:cNvSpPr/>
          <p:nvPr/>
        </p:nvSpPr>
        <p:spPr>
          <a:xfrm>
            <a:off x="6733121" y="5089058"/>
            <a:ext cx="1701501" cy="44543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Проверка на аномалию</a:t>
            </a:r>
          </a:p>
        </p:txBody>
      </p:sp>
      <p:sp>
        <p:nvSpPr>
          <p:cNvPr id="67" name="Скругленный прямоугольник 66"/>
          <p:cNvSpPr/>
          <p:nvPr/>
        </p:nvSpPr>
        <p:spPr>
          <a:xfrm>
            <a:off x="9093481" y="2439369"/>
            <a:ext cx="1701501" cy="44543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Если аномален</a:t>
            </a:r>
          </a:p>
        </p:txBody>
      </p:sp>
      <p:sp>
        <p:nvSpPr>
          <p:cNvPr id="68" name="Скругленный прямоугольник 67"/>
          <p:cNvSpPr/>
          <p:nvPr/>
        </p:nvSpPr>
        <p:spPr>
          <a:xfrm>
            <a:off x="9099493" y="3229225"/>
            <a:ext cx="1701501" cy="44543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Классификация</a:t>
            </a:r>
            <a:r>
              <a:rPr lang="ru-RU" sz="1400" dirty="0" smtClean="0"/>
              <a:t> </a:t>
            </a:r>
          </a:p>
        </p:txBody>
      </p:sp>
      <p:sp>
        <p:nvSpPr>
          <p:cNvPr id="69" name="Скругленный прямоугольник 68"/>
          <p:cNvSpPr/>
          <p:nvPr/>
        </p:nvSpPr>
        <p:spPr>
          <a:xfrm>
            <a:off x="9099492" y="4089611"/>
            <a:ext cx="1960394" cy="44084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ru-RU" sz="1600" dirty="0" smtClean="0"/>
              <a:t>Сохранение в БД </a:t>
            </a:r>
          </a:p>
        </p:txBody>
      </p:sp>
      <p:sp>
        <p:nvSpPr>
          <p:cNvPr id="70" name="Скругленный прямоугольник 69"/>
          <p:cNvSpPr/>
          <p:nvPr/>
        </p:nvSpPr>
        <p:spPr>
          <a:xfrm>
            <a:off x="9108645" y="5040424"/>
            <a:ext cx="1960395" cy="39148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Отображение в </a:t>
            </a:r>
            <a:r>
              <a:rPr lang="en-US" sz="1600" dirty="0" smtClean="0"/>
              <a:t>UI</a:t>
            </a:r>
            <a:endParaRPr lang="ru-RU" sz="1600" dirty="0" smtClean="0"/>
          </a:p>
        </p:txBody>
      </p:sp>
      <p:cxnSp>
        <p:nvCxnSpPr>
          <p:cNvPr id="73" name="Прямая со стрелкой 72"/>
          <p:cNvCxnSpPr/>
          <p:nvPr/>
        </p:nvCxnSpPr>
        <p:spPr>
          <a:xfrm>
            <a:off x="9944231" y="3694767"/>
            <a:ext cx="0" cy="3559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/>
          <p:nvPr/>
        </p:nvCxnSpPr>
        <p:spPr>
          <a:xfrm>
            <a:off x="7601014" y="2884801"/>
            <a:ext cx="0" cy="4505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 стрелкой 76"/>
          <p:cNvCxnSpPr>
            <a:endCxn id="66" idx="0"/>
          </p:cNvCxnSpPr>
          <p:nvPr/>
        </p:nvCxnSpPr>
        <p:spPr>
          <a:xfrm>
            <a:off x="7579674" y="4680867"/>
            <a:ext cx="4198" cy="4081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/>
          <p:cNvCxnSpPr/>
          <p:nvPr/>
        </p:nvCxnSpPr>
        <p:spPr>
          <a:xfrm>
            <a:off x="7601014" y="3838740"/>
            <a:ext cx="0" cy="4095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 стрелкой 81"/>
          <p:cNvCxnSpPr/>
          <p:nvPr/>
        </p:nvCxnSpPr>
        <p:spPr>
          <a:xfrm>
            <a:off x="9944231" y="2884503"/>
            <a:ext cx="0" cy="344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 стрелкой 82"/>
          <p:cNvCxnSpPr/>
          <p:nvPr/>
        </p:nvCxnSpPr>
        <p:spPr>
          <a:xfrm flipV="1">
            <a:off x="8507747" y="2672631"/>
            <a:ext cx="561337" cy="27145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Прямая со стрелкой 98"/>
          <p:cNvCxnSpPr/>
          <p:nvPr/>
        </p:nvCxnSpPr>
        <p:spPr>
          <a:xfrm>
            <a:off x="2389257" y="11574545"/>
            <a:ext cx="0" cy="3991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 стрелкой 99"/>
          <p:cNvCxnSpPr/>
          <p:nvPr/>
        </p:nvCxnSpPr>
        <p:spPr>
          <a:xfrm>
            <a:off x="2387604" y="12518023"/>
            <a:ext cx="0" cy="3718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 стрелкой 100"/>
          <p:cNvCxnSpPr/>
          <p:nvPr/>
        </p:nvCxnSpPr>
        <p:spPr>
          <a:xfrm>
            <a:off x="2387604" y="13405842"/>
            <a:ext cx="0" cy="3991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108"/>
          <p:cNvCxnSpPr/>
          <p:nvPr/>
        </p:nvCxnSpPr>
        <p:spPr>
          <a:xfrm>
            <a:off x="9944231" y="4530456"/>
            <a:ext cx="0" cy="5099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945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Words>58</Words>
  <Application>Microsoft Office PowerPoint</Application>
  <PresentationFormat>Произвольный</PresentationFormat>
  <Paragraphs>39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23</cp:revision>
  <dcterms:created xsi:type="dcterms:W3CDTF">2026-01-15T23:53:46Z</dcterms:created>
  <dcterms:modified xsi:type="dcterms:W3CDTF">2026-01-16T05:56:10Z</dcterms:modified>
</cp:coreProperties>
</file>